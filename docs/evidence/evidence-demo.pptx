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封面" id="{6f76d0c5-d7b2-1173-a183-b033688e1701}">
          <p14:sldIdLst>
            <p14:sldId id="256"/>
          </p14:sldIdLst>
        </p14:section>
        <p14:section name="正確性證據" id="{b3d0461d-507e-665c-3296-8315f0ab625f}">
          <p14:sldIdLst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三分鐘展示" id="{497b1f56-807a-e40e-64fb-d740a9466715}">
          <p14:sldIdLst>
            <p14:sldId id="265"/>
            <p14:sldId id="266"/>
            <p14:sldId id="267"/>
            <p14:sldId id="268"/>
            <p14:sldId id="269"/>
            <p14:sldId id="270"/>
          </p14:sldIdLst>
        </p14:section>
        <p14:section name="架構與效益" id="{4883b4b5-65f4-040f-a824-e727515555d2}">
          <p14:sldIdLst>
            <p14:sldId id="271"/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把這個 Excel 拖進來。工具依工作表名稱自動分配成七份資料，每份多少筆都列出來。資料只在瀏覽器裡處理，不會上傳。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幾秒鐘就檢查完。待修正 82 項，依類型分組，先看必須修改的。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點一項看說明：問題是什麼、要怎麼改、依據手冊哪一條。這個建議值是規則算出來的，不是 AI 猜的。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看過依據才按套用，一次只改一筆，改完馬上重新檢查。這一項是起保 45 天就身故，不違反規定但可疑，工具只提醒，不給修改按鈕，交給人判斷。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最後匯出報告：問題數、跟各系統總數的比對和原因，還有稽核紀錄，誰在什麼時候改了什麼都查得到。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0B2E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194560"/>
            <a:ext cx="109728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429000"/>
            <a:ext cx="1097280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CBD5E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32688"/>
            <a:ext cx="11094415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4" name="Text 0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申報資料檢核助手｜資料為模擬資料，非真實申報資料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19456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申報資料檢核助手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429000"/>
            <a:ext cx="109728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正確性證據表・三分鐘展示流程・架構與分工</a:t>
            </a:r>
            <a:endParaRPr lang="en-US" sz="18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數字全部由工具實際執行產生（tools/evidence.js），測試資料為依填報手冊製作、刻意埋入已知錯誤的模擬資料。產生日期：2026-10-28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證據摘要：判得對、不亂改、可核對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32688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資料：samples/dirty（模擬資料）｜錯誤解答 72 項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2567864" cy="1600200"/>
          </a:xfrm>
          <a:prstGeom prst="roundRect">
            <a:avLst>
              <a:gd name="adj" fmla="val 4571"/>
            </a:avLst>
          </a:prstGeom>
          <a:solidFill>
            <a:srgbClr val="F3F6F7"/>
          </a:solidFill>
          <a:ln w="12700">
            <a:solidFill>
              <a:srgbClr val="F3F6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600200"/>
            <a:ext cx="2293544" cy="3200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可判定的解答項目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920240"/>
            <a:ext cx="2293544" cy="685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0F76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64 / 64</a:t>
            </a:r>
            <a:endParaRPr lang="en-US" sz="36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606040"/>
            <a:ext cx="2293544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全部檢出，漏報 0 項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390824" y="1508760"/>
            <a:ext cx="2567864" cy="1600200"/>
          </a:xfrm>
          <a:prstGeom prst="roundRect">
            <a:avLst>
              <a:gd name="adj" fmla="val 4571"/>
            </a:avLst>
          </a:prstGeom>
          <a:solidFill>
            <a:srgbClr val="F3F6F7"/>
          </a:solidFill>
          <a:ln w="12700">
            <a:solidFill>
              <a:srgbClr val="F3F6F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527984" y="1600200"/>
            <a:ext cx="2293544" cy="3200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解答以外的問題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3527984" y="1920240"/>
            <a:ext cx="2293544" cy="685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0F76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21 項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3527984" y="2606040"/>
            <a:ext cx="2293544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連帶 15・系統總數差額 6・無法解釋 0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33008" y="1508760"/>
            <a:ext cx="2567864" cy="1600200"/>
          </a:xfrm>
          <a:prstGeom prst="roundRect">
            <a:avLst>
              <a:gd name="adj" fmla="val 4571"/>
            </a:avLst>
          </a:prstGeom>
          <a:solidFill>
            <a:srgbClr val="F3F6F7"/>
          </a:solidFill>
          <a:ln w="12700">
            <a:solidFill>
              <a:srgbClr val="F3F6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70168" y="1600200"/>
            <a:ext cx="2293544" cy="3200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正確版資料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370168" y="1920240"/>
            <a:ext cx="2293544" cy="685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0F76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 項</a:t>
            </a:r>
            <a:endParaRPr lang="en-US" sz="3600" dirty="0"/>
          </a:p>
        </p:txBody>
      </p:sp>
      <p:sp>
        <p:nvSpPr>
          <p:cNvPr id="15" name="Text 13"/>
          <p:cNvSpPr txBox="1"/>
          <p:nvPr/>
        </p:nvSpPr>
        <p:spPr>
          <a:xfrm>
            <a:off x="6370168" y="2606040"/>
            <a:ext cx="2293544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誤報 0 項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075191" y="1508760"/>
            <a:ext cx="2567864" cy="1600200"/>
          </a:xfrm>
          <a:prstGeom prst="roundRect">
            <a:avLst>
              <a:gd name="adj" fmla="val 4571"/>
            </a:avLst>
          </a:prstGeom>
          <a:solidFill>
            <a:srgbClr val="F3F6F7"/>
          </a:solidFill>
          <a:ln w="12700">
            <a:solidFill>
              <a:srgbClr val="F3F6F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212351" y="1600200"/>
            <a:ext cx="2293544" cy="3200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套用 21 個建議值後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9212351" y="1920240"/>
            <a:ext cx="2293544" cy="685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0F76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88 → 58</a:t>
            </a:r>
            <a:endParaRPr lang="en-US" sz="3600" dirty="0"/>
          </a:p>
        </p:txBody>
      </p:sp>
      <p:sp>
        <p:nvSpPr>
          <p:cNvPr id="19" name="Text 17"/>
          <p:cNvSpPr txBox="1"/>
          <p:nvPr/>
        </p:nvSpPr>
        <p:spPr>
          <a:xfrm>
            <a:off x="9212351" y="2606040"/>
            <a:ext cx="2293544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因修改而新產生的問題 0 項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3383280"/>
            <a:ext cx="5410048" cy="2880360"/>
          </a:xfrm>
          <a:prstGeom prst="roundRect">
            <a:avLst>
              <a:gd name="adj" fmla="val 254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1520" y="3474720"/>
            <a:ext cx="5044288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怎麼算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731520" y="3840480"/>
            <a:ext cx="5044288" cy="23317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放入 7 份模擬資料與錯誤解答，由工具逐項對照：檢核編號相同、且保單相同才算檢出。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未判定 8 項不計入分母：5 項解答沒有檢核編號（系統總數時間差，工具列出差額供人工對照）、3 項是預設未啟用的範例自訂規則。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「套用建議值」用工具本身的修改功能，等同每筆都按下「套用建議值」；改完自動重新檢查。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233008" y="3383280"/>
            <a:ext cx="5410048" cy="2880360"/>
          </a:xfrm>
          <a:prstGeom prst="roundRect">
            <a:avLst>
              <a:gd name="adj" fmla="val 254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415888" y="3474720"/>
            <a:ext cx="5044288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限制（不代表的事）</a:t>
            </a:r>
            <a:endParaRPr lang="en-US" sz="1700" dirty="0"/>
          </a:p>
        </p:txBody>
      </p:sp>
      <p:sp>
        <p:nvSpPr>
          <p:cNvPr id="25" name="Text 23"/>
          <p:cNvSpPr txBox="1"/>
          <p:nvPr/>
        </p:nvSpPr>
        <p:spPr>
          <a:xfrm>
            <a:off x="6415888" y="3840480"/>
            <a:ext cx="5044288" cy="23317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這是模擬資料的結果，不等於真實申報資料的準確率。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「連帶問題」依同一張保單已在解答中判定，沒有逐筆人工確認因果。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規則依據的法規版本狀態為「尚未核實」，正式使用前須由業務單位核對。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證據表（1–15 / 72）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32688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預期違反規則 → 實際是否檢出 → 漏報／未判定 → 修正後結果</a:t>
            </a:r>
            <a:endParaRPr lang="en-US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4415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1051560"/>
                <a:gridCol w="1600200"/>
                <a:gridCol w="4096512"/>
                <a:gridCol w="1417320"/>
                <a:gridCol w="822960"/>
                <a:gridCol w="1737360"/>
              </a:tblGrid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檢核編號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保單／案例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預期問題（解答）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實際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工具標示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修正後結果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23900_L0802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P250000001/A01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出生日期 2 月 30 日 (不存在的日期)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無建議值・人工修正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23900_L0802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P250000101/A01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出生日期誤填民國年 (076 年)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無建議值・人工修正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24901_L0613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P250001301/A01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年滿期 T 卻填保險期間 999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無建議值・人工修正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25204_L2005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P250001801/A01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年滿期迄日少算一年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套用建議值後已消失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24300_L1904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P250001401/A01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新契約加保日期 ≠ 保險期間起日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套用建議值後已消失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26102_L1503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P250001001/A01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滿期退保日期 ≠ 保險期間迄日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套用建議值後已消失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7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21800_L3302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P250000201/A01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幣別填 TWD (代碼表為 NTD)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無建議值・人工修正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10400_L3001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P250000301/A01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通路別填 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無建議值・人工修正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9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20300_L0902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P250001101/A01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性別填 3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無建議值・人工修正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10400_L0201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P250002201/A01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保單編號靠右填寫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套用建議值後已消失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10400_L0501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P250002201/A01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保險金額未補前置 0 (以空白補位)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套用建議值後已消失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12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25102_L1703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P250002401/A01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2004 年後保單分紅類別填 T(強制分紅)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無建議值・人工修正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13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21001_L1803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P250002501/A01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商品類別編號公司代碼錯誤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無建議值・人工修正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14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X001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P250002701/A01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臺幣保單原幣保額 ≠ 臺幣保額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建議確認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無建議值・人工修正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15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30201_L0302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P250003501/A01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只有一筆資料異動序號卻填 00001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套用建議值後已消失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989320"/>
            <a:ext cx="11094415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修正後結果：「套用建議值後已消失」= 規則算出正確值，套用後重新檢查已不再出現；「無建議值・人工修正」= 工具無法確定正確值，由人修正原始資料；「有參考值・人工修正原系統」= 對帳或報表資料，工具列出參考值但不修改；「交人工判斷」= 疑似異常，不提供修改。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證據表（16–30 / 72）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32688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預期違反規則 → 實際是否檢出 → 漏報／未判定 → 修正後結果</a:t>
            </a:r>
            <a:endParaRPr lang="en-US" sz="1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4415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1051560"/>
                <a:gridCol w="1600200"/>
                <a:gridCol w="4096512"/>
                <a:gridCol w="1417320"/>
                <a:gridCol w="822960"/>
                <a:gridCol w="1737360"/>
              </a:tblGrid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檢核編號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保單／案例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預期問題（解答）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實際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工具標示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修正後結果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16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30213_L1306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P250000401/A01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停效後下一筆加保別填 INN 而非 RNN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套用建議值後已消失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17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30107_P0901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P250000701/A01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同保單兩筆性別不一致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套用建議值後已消失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18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30205_P0502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P250002601/A01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保額增加(INN)後保額反而較小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無建議值・人工修正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19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X002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P250003601/A01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被保險人投保年齡 150 歲 (出生日期誤植)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建議確認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無建議值・人工修正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L4403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P250003701/A01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職業類別 8(拒保) 但職業分類代碼不為 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套用建議值後已消失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24602_L2703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P250004001/A01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身障等級 2 但身障類別 000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無建議值・人工修正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22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25002_L1233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P250004301/A01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次標準體原因=1 但體檢類別=1(標準體)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套用建議值後已消失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23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24701_L4501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P250004401/A01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新契約要保人郵遞區號填 999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無建議值・人工修正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24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22300_L4602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P250004701/A01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被保險人郵遞區號 000 不存在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無建議值・人工修正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25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25304_L2106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P250004901/A01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定期壽險還本型態填 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套用建議值後已消失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26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25805_L4202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P250004101/A01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停效但停(失)效原因填 N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無建議值・人工修正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27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26104_L1504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P250007501/A01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退保別 XED 但退保日期不為 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套用建議值後已消失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28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10400_L3701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P250005301/A01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公司保單險種代號含全形字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無建議值・人工修正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29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30301_LD012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P250002301/A01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疾病死亡(DEA)但給付檔漏報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無建議值・人工修正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30312_LD019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P250004601/A01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給付發生日期與承保退保日期不一致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無建議值・人工修正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989320"/>
            <a:ext cx="11094415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修正後結果：「套用建議值後已消失」= 規則算出正確值，套用後重新檢查已不再出現；「無建議值・人工修正」= 工具無法確定正確值，由人修正原始資料；「有參考值・人工修正原系統」= 對帳或報表資料，工具列出參考值但不修改；「交人工判斷」= 疑似異常，不提供修改。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證據表（31–45 / 72）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32688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預期違反規則 → 實際是否檢出 → 漏報／未判定 → 修正後結果</a:t>
            </a:r>
            <a:endParaRPr lang="en-US" sz="1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4415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1051560"/>
                <a:gridCol w="1600200"/>
                <a:gridCol w="4096512"/>
                <a:gridCol w="1417320"/>
                <a:gridCol w="822960"/>
                <a:gridCol w="1737360"/>
              </a:tblGrid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檢核編號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保單／案例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預期問題（解答）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實際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工具標示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修正後結果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26600_D1002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P250003001/A01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理賠發生日期早於保險期間起日 (承保退保日期未同步，連帶 30312_LD019)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無建議值・人工修正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32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26904_D1402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P250005001/A01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外因(意外)死亡，承保退保別卻填 DEA(疾病死亡)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套用建議值後已消失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33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26901_D1402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P250004801/A01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ICD-10 代碼含小數點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套用建議值後已消失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34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26400_D1803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P250001201/A01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給付日期早於發生日期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無建議值・人工修正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35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30307_LD013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Z99999999999999/A01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給付資料在承保檔找不到對應保單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無建議值・人工修正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36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30202_L0302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P250005801/A01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同一筆資料重複填送 (主鍵重複)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套用建議值後已消失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37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10300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資料長度不足 (少一個欄位)；該筆 (P250005901/A01) 無法拆欄，客戶資料會連帶出現 C007「保單不在承保檔」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無建議值・人工修正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38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F003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檔案中間有空白行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無建議值・人工修正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39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P004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P250011101/A01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復效(RNN)時保額變動，未以保額增加(INN)申報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有參考值・人工修正原系統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P001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P24LOST0001/A01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上年度期末有效保單，本年度漏報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無建議值・人工修正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P003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P250011801/A01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本年度期初保額 ≠ 上年度期末保額 (上年度末增額未申報)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有參考值・人工修正原系統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42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P002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P250011701/A01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本年度以持續有效(XED)申報，但上年度申報檔無此保單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無建議值・人工修正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43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6/30 給付，理賠系統以入帳日計入 7 月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未判定・無檢核編號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人工對照差額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44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同上 (相互抵銷)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未判定・無檢核編號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人工對照差額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45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12/30 給付，理賠系統計入次年 1 月 (跨年度)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未判定・無檢核編號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人工對照差額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989320"/>
            <a:ext cx="11094415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修正後結果：「套用建議值後已消失」= 規則算出正確值，套用後重新檢查已不再出現；「無建議值・人工修正」= 工具無法確定正確值，由人修正原始資料；「有參考值・人工修正原系統」= 對帳或報表資料，工具列出參考值但不修改；「交人工判斷」= 疑似異常，不提供修改。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證據表（46–60 / 72）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32688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預期違反規則 → 實際是否檢出 → 漏報／未判定 → 修正後結果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4415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1051560"/>
                <a:gridCol w="1600200"/>
                <a:gridCol w="4096512"/>
                <a:gridCol w="1417320"/>
                <a:gridCol w="822960"/>
                <a:gridCol w="1737360"/>
              </a:tblGrid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檢核編號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保單／案例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預期問題（解答）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實際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工具標示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修正後結果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46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保單管理系統外幣保單以原幣加總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未判定・無檢核編號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人工對照差額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47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新契約系統多 1 件 285 萬元，申報漏報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未判定・無檢核編號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人工對照差額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48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S008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應付保險給付與給付明細差一筆 12/30 給付 (會計次年入帳)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建議確認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無建議值・人工修正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49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S003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責任準備金期末餘額數字對調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無建議值・人工修正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S005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連帶造成資產負債表不平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無建議值・人工修正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S002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使用 IFRS 9 後已停用之「備供出售金融資產」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有參考值・人工修正原系統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52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S001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科目代號誤植 (1401 → 1410)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有參考值・人工修正原系統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53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U002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P250006201/A01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投保年齡 78 歲承保終身壽險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未判定・規則未啟用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54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U001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P250008401/A01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新契約保額 4,000 萬元未體檢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未判定・規則未啟用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55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U007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P250005101/A01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死亡給付在事故後 120 天才給付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未判定・規則未啟用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56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PM02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P250006001/A01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20230910 起保仍使用 2014 年底停售的舊版代號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套用建議值後已消失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57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PM01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P250007301/A01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商品代號第 10、11 碼對調（201141M11WA9900）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套用建議值後已消失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58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C001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P250000901/A01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被保險人證號檢查碼錯誤 (J195366528)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無建議值・人工修正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59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C004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P250002801/A01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要保人郵遞區號 813 與臺北市中正區地址不符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無建議值・人工修正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C005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P250001901/A01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同一證號 S272264127 姓名不同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無建議值・人工修正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989320"/>
            <a:ext cx="11094415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修正後結果：「套用建議值後已消失」= 規則算出正確值，套用後重新檢查已不再出現；「無建議值・人工修正」= 工具無法確定正確值，由人修正原始資料；「有參考值・人工修正原系統」= 對帳或報表資料，工具列出參考值但不修改；「交人工判斷」= 疑似異常，不提供修改。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證據表（61–72 / 72）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32688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預期違反規則 → 實際是否檢出 → 漏報／未判定 → 修正後結果</a:t>
            </a:r>
            <a:endParaRPr lang="en-US" sz="1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4415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1051560"/>
                <a:gridCol w="1600200"/>
                <a:gridCol w="4096512"/>
                <a:gridCol w="1417320"/>
                <a:gridCol w="822960"/>
                <a:gridCol w="1737360"/>
              </a:tblGrid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檢核編號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保單／案例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預期問題（解答）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實際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工具標示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修正後結果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C005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P250004001/A01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同一證號 R281813824 出生日期不同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無建議值・人工修正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62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C005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P250001601/A01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同一保單內同一證號出生日期不同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無建議值・人工修正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63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C006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P250003201/A01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承保保單沒有客戶資料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無建議值・人工修正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64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C007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Z88888888888888/A01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客戶資料的保單不在承保檔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無建議值・人工修正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65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C008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P250000001/A01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承保檔出生日期不合法，客戶資料有正確值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套用建議值後已消失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66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C008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P250000101/A01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承保檔出生日期為民國年，客戶資料有正確值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套用建議值後已消失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67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C008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P250001101/A01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承保檔性別代碼錯誤，客戶資料有正確值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套用建議值後已消失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68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C009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P250001701/A01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身份為本人，但要保人與被保險人證號不同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無建議值・人工修正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69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A001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P250008701/A01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新契約投保年齡 86 歲（出生 19390901）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請人工判斷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交人工判斷（不修改）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70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A002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P250008601/A01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應繳總保費合計只有同商品正常水準的 1/10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請人工判斷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交人工判斷（不修改）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71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A003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P250009001/A01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20250527 起保，45 天後（20250711）疾病身故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請人工判斷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交人工判斷（不修改）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72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A004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P250006401/A01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與保單 P250006501 為同一被保險人：20250218 先領生命末期提前給付，60 天後（20250419）身故給付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請人工判斷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交人工判斷（不修改）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989320"/>
            <a:ext cx="11094415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修正後結果：「套用建議值後已消失」= 規則算出正確值，套用後重新檢查已不再出現；「無建議值・人工修正」= 工具無法確定正確值，由人修正原始資料；「有參考值・人工修正原系統」= 對帳或報表資料，工具列出參考值但不修改；「交人工判斷」= 疑似異常，不提供修改。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解答以外的問題（1–11 / 21）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32688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不在解答裡的問題全部列出，讓評審自行核對是否為誤報</a:t>
            </a:r>
            <a:endParaRPr lang="en-US" sz="14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4415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97280"/>
                <a:gridCol w="1737360"/>
                <a:gridCol w="914400"/>
                <a:gridCol w="5879592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分類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檢核編號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保單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工具標示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工具訊息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連帶問題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F004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P250005301/A01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含全形字或中文字 (限使用英數型態半形資料)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連帶問題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30212_L1305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P250000401/A01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加保別=INN，但上一筆退保別為 LNN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連帶問題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30205_P0502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P250000401/A01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保額增加(INN)後保額應大於上一筆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連帶問題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K0001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P250005801/A01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主鍵重複：與第 75 行保單號碼與異動序號相同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連帶問題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30212_L1305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P250005801/A01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加保別 XED(期初有效) 只能是保單的第一筆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連帶問題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30228_P1504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P250005801/A01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退保別=EOY(期末有效)應為保單最後一筆異動，但其後仍有資料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連帶問題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10400_D1401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P250004801/A01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死亡及完全失能原因(ICD-10-CM)含不允許的字元：「C22.0」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連帶問題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30312_LD019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P250003001/A01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承保退保日期 20250920 與給付發生日期 20210413 不相等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連帶問題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30309_LD012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P250005001/A01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建議確認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疾病死亡之應給付金額與承保檔疾病身故保險金不同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連帶問題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C009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P250000901/A01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承保檔被保險人身份為本人(1)，但要保人 黃建宏(J195366527) 與被保險人 黃建宏(J195366528) 證號不同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連帶問題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C008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P250001601/A01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被保險人出生日期：承保檔為 19640301，客戶資料為 19650301（蕭宗翰）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解答以外的問題（12–21 / 21）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32688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不在解答裡的問題全部列出，讓評審自行核對是否為誤報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4415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97280"/>
                <a:gridCol w="1737360"/>
                <a:gridCol w="914400"/>
                <a:gridCol w="5879592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分類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檢核編號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保單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工具標示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工具訊息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連帶問題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C008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P250001701/A01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被保險人性別：承保檔為 1，客戶資料為 2（廖建宏）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連帶問題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P001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P250005901/A01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保單 P250005901/A01 上年度期末為有效保單，本年度申報檔查無資料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連帶問題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P003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P250002701/A01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期初保額 30,000,000 元 ≠ 上年度期末保額 3,000,000 元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系統總數差額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R001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建議確認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理賠系統 死亡/失能理賠給付 2025-06：時間差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系統總數差額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R001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建議確認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理賠系統 死亡/失能理賠給付 2025-07：時間差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系統總數差額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R001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建議確認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理賠系統 死亡/失能理賠給付 2025-12：時間差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系統總數差額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R001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建議確認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理賠系統 死亡/失能理賠給付 2026-01：時間差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系統總數差額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R001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建議確認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保單管理系統 期末有效件數/保額 2025：定義差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系統總數差額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R001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新契約系統 新契約件數/保額 2025-03：待查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連帶問題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C007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P250005901/A01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客戶資料的保單 P250005901/A01 在承保檔中不存在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三分鐘展示流程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32688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固定路線，每一步都用同一份試用資料（一個 Excel 檔，7 張工作表）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2036003" cy="2331720"/>
          </a:xfrm>
          <a:prstGeom prst="roundRect">
            <a:avLst>
              <a:gd name="adj" fmla="val 3593"/>
            </a:avLst>
          </a:prstGeom>
          <a:solidFill>
            <a:srgbClr val="F3F6F7"/>
          </a:solidFill>
          <a:ln w="12700">
            <a:solidFill>
              <a:srgbClr val="F3F6F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645920"/>
            <a:ext cx="457200" cy="45720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691640"/>
            <a:ext cx="1213043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185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0:00–0:25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212848"/>
            <a:ext cx="1761683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上傳資料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651760"/>
            <a:ext cx="1761683" cy="1097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拖入一個 Excel；工具辨識 7 種資料。資料只在瀏覽器裡處理。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813243" y="1463040"/>
            <a:ext cx="2036003" cy="2331720"/>
          </a:xfrm>
          <a:prstGeom prst="roundRect">
            <a:avLst>
              <a:gd name="adj" fmla="val 3593"/>
            </a:avLst>
          </a:prstGeom>
          <a:solidFill>
            <a:srgbClr val="F3F6F7"/>
          </a:solidFill>
          <a:ln w="12700">
            <a:solidFill>
              <a:srgbClr val="F3F6F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996123" y="1645920"/>
            <a:ext cx="457200" cy="45720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996123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3544763" y="1691640"/>
            <a:ext cx="1213043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185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0:25–1:00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2950403" y="2212848"/>
            <a:ext cx="1761683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找到問題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2950403" y="2651760"/>
            <a:ext cx="1761683" cy="1097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82 項待處理，依類型分組；先看「必須修改」。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077846" y="1463040"/>
            <a:ext cx="2036003" cy="2331720"/>
          </a:xfrm>
          <a:prstGeom prst="roundRect">
            <a:avLst>
              <a:gd name="adj" fmla="val 3593"/>
            </a:avLst>
          </a:prstGeom>
          <a:solidFill>
            <a:srgbClr val="F3F6F7"/>
          </a:solidFill>
          <a:ln w="12700">
            <a:solidFill>
              <a:srgbClr val="F3F6F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260726" y="1645920"/>
            <a:ext cx="457200" cy="45720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260726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5809366" y="1691640"/>
            <a:ext cx="1213043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185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1:00–1:40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5215006" y="2212848"/>
            <a:ext cx="1761683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說明依據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5215006" y="2651760"/>
            <a:ext cx="1761683" cy="1097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點一項：問題、怎麼改、依據的手冊條文與檢核編號。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7342449" y="1463040"/>
            <a:ext cx="2036003" cy="2331720"/>
          </a:xfrm>
          <a:prstGeom prst="roundRect">
            <a:avLst>
              <a:gd name="adj" fmla="val 3593"/>
            </a:avLst>
          </a:prstGeom>
          <a:solidFill>
            <a:srgbClr val="F3F6F7"/>
          </a:solidFill>
          <a:ln w="12700">
            <a:solidFill>
              <a:srgbClr val="F3F6F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525329" y="1645920"/>
            <a:ext cx="457200" cy="45720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525329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8073969" y="1691640"/>
            <a:ext cx="1213043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185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1:40–2:30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7479609" y="2212848"/>
            <a:ext cx="1761683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確認修正或交人工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7479609" y="2651760"/>
            <a:ext cx="1761683" cy="1097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有建議值的看過後套用；疑似異常只標示，交人工判斷。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9607052" y="1463040"/>
            <a:ext cx="2036003" cy="2331720"/>
          </a:xfrm>
          <a:prstGeom prst="roundRect">
            <a:avLst>
              <a:gd name="adj" fmla="val 3593"/>
            </a:avLst>
          </a:prstGeom>
          <a:solidFill>
            <a:srgbClr val="F3F6F7"/>
          </a:solidFill>
          <a:ln w="12700">
            <a:solidFill>
              <a:srgbClr val="F3F6F7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789932" y="1645920"/>
            <a:ext cx="457200" cy="45720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789932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10338572" y="1691640"/>
            <a:ext cx="1213043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185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2:30–3:00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9744212" y="2212848"/>
            <a:ext cx="1761683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匯出報告</a:t>
            </a:r>
            <a:endParaRPr lang="en-US" sz="1700" dirty="0"/>
          </a:p>
        </p:txBody>
      </p:sp>
      <p:sp>
        <p:nvSpPr>
          <p:cNvPr id="33" name="Text 31"/>
          <p:cNvSpPr txBox="1"/>
          <p:nvPr/>
        </p:nvSpPr>
        <p:spPr>
          <a:xfrm>
            <a:off x="9744212" y="2651760"/>
            <a:ext cx="1761683" cy="1097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檢查報告、問題清單、改好的資料、稽核紀錄。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548640" y="4069080"/>
            <a:ext cx="5410048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31520" y="4160520"/>
            <a:ext cx="5044288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展示時要講的三句話</a:t>
            </a:r>
            <a:endParaRPr lang="en-US" sz="1700" dirty="0"/>
          </a:p>
        </p:txBody>
      </p:sp>
      <p:sp>
        <p:nvSpPr>
          <p:cNvPr id="36" name="Text 34"/>
          <p:cNvSpPr txBox="1"/>
          <p:nvPr/>
        </p:nvSpPr>
        <p:spPr>
          <a:xfrm>
            <a:off x="731520" y="4572000"/>
            <a:ext cx="5044288" cy="1600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判斷由規則引擎做，每個問題都對得到手冊條文。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工具不會自動改資料：每個修改都要有人看過依據。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看起來不合理但沒有違規的，只提醒，交給人判斷。</a:t>
            </a:r>
            <a:endParaRPr lang="en-US" sz="1500" dirty="0"/>
          </a:p>
        </p:txBody>
      </p:sp>
      <p:sp>
        <p:nvSpPr>
          <p:cNvPr id="37" name="Shape 35"/>
          <p:cNvSpPr/>
          <p:nvPr/>
        </p:nvSpPr>
        <p:spPr>
          <a:xfrm>
            <a:off x="6233008" y="4069080"/>
            <a:ext cx="5410048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415888" y="4160520"/>
            <a:ext cx="5044288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不要展示的</a:t>
            </a:r>
            <a:endParaRPr lang="en-US" sz="1700" dirty="0"/>
          </a:p>
        </p:txBody>
      </p:sp>
      <p:sp>
        <p:nvSpPr>
          <p:cNvPr id="39" name="Text 37"/>
          <p:cNvSpPr txBox="1"/>
          <p:nvPr/>
        </p:nvSpPr>
        <p:spPr>
          <a:xfrm>
            <a:off x="6415888" y="4572000"/>
            <a:ext cx="5044288" cy="1600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功能（需連網、結果會變動；三分鐘內不展示）。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規則更新與主管核可（另附說明）。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STEP 1｜上傳資料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32688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0:00–0:25</a:t>
            </a:r>
            <a:endParaRPr lang="en-US" sz="1400" dirty="0"/>
          </a:p>
        </p:txBody>
      </p:sp>
      <p:pic>
        <p:nvPicPr>
          <p:cNvPr id="4" name="Image 0" descr="工具畫面：上傳資料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7680960" cy="48006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417320"/>
            <a:ext cx="7680960" cy="4800600"/>
          </a:xfrm>
          <a:prstGeom prst="rect">
            <a:avLst/>
          </a:prstGeom>
          <a:ln w="12700">
            <a:solidFill>
              <a:srgbClr val="E5E7E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49640" y="1417320"/>
            <a:ext cx="3093415" cy="48006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把試用資料 Excel 拖進上方框。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工具依工作表名稱分配成 7 份資料，列出每份的筆數；「說明」「錯誤解答」不是申報資料，標示「沒有使用」。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資料只在瀏覽器裡讀取與檢查，不上傳伺服器。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STEP 2｜找到問題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32688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0:25–1:00</a:t>
            </a:r>
            <a:endParaRPr lang="en-US" sz="1400" dirty="0"/>
          </a:p>
        </p:txBody>
      </p:sp>
      <p:pic>
        <p:nvPicPr>
          <p:cNvPr id="4" name="Image 0" descr="工具畫面：找到問題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7680960" cy="48006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417320"/>
            <a:ext cx="7680960" cy="4800600"/>
          </a:xfrm>
          <a:prstGeom prst="rect">
            <a:avLst/>
          </a:prstGeom>
          <a:ln w="12700">
            <a:solidFill>
              <a:srgbClr val="E5E7E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49640" y="1417320"/>
            <a:ext cx="3093415" cy="48006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上方三張卡片：資料正確比例、待修正 82 項、有建議值的數量。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清單依「格式錯誤／內容矛盾／檔案對不上／總數不符／需人工判斷」分組。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STEP 3｜說明依據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32688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1:00–1:40</a:t>
            </a:r>
            <a:endParaRPr lang="en-US" sz="1400" dirty="0"/>
          </a:p>
        </p:txBody>
      </p:sp>
      <p:pic>
        <p:nvPicPr>
          <p:cNvPr id="4" name="Image 0" descr="工具畫面：說明依據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7680960" cy="48006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417320"/>
            <a:ext cx="7680960" cy="4800600"/>
          </a:xfrm>
          <a:prstGeom prst="rect">
            <a:avLst/>
          </a:prstGeom>
          <a:ln w="12700">
            <a:solidFill>
              <a:srgbClr val="E5E7E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49640" y="1417320"/>
            <a:ext cx="3093415" cy="48006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點「年滿期 20 年，迄日應為起日+20年-1天」。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右側三段：問題、怎麼改（建議值 20321117）、依據（檢核編號 25204_L2005）。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建議值由規則計算，不是 AI 產生。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STEP 4｜確認修正或交人工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32688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1:40–2:30</a:t>
            </a:r>
            <a:endParaRPr lang="en-US" sz="1400" dirty="0"/>
          </a:p>
        </p:txBody>
      </p:sp>
      <p:pic>
        <p:nvPicPr>
          <p:cNvPr id="4" name="Image 0" descr="工具畫面：確認修正或交人工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7680960" cy="48006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417320"/>
            <a:ext cx="7680960" cy="4800600"/>
          </a:xfrm>
          <a:prstGeom prst="rect">
            <a:avLst/>
          </a:prstGeom>
          <a:ln w="12700">
            <a:solidFill>
              <a:srgbClr val="E5E7E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49640" y="1417320"/>
            <a:ext cx="3093415" cy="48006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看過依據後按「套用建議值」：只改這一筆並重新檢查（畫面顯示「已修改 1 個地方，問題從 82 個減為 81 個」）。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再點「保險期間起日後 45 天即發生身故」：標示「請人工判斷」，沒有修改按鈕——不違規但可疑，交給核保／理賠人員。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STEP 5｜匯出報告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32688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2:30–3:00</a:t>
            </a:r>
            <a:endParaRPr lang="en-US" sz="1400" dirty="0"/>
          </a:p>
        </p:txBody>
      </p:sp>
      <p:pic>
        <p:nvPicPr>
          <p:cNvPr id="4" name="Image 0" descr="工具畫面：匯出報告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7680960" cy="48006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417320"/>
            <a:ext cx="7680960" cy="4800600"/>
          </a:xfrm>
          <a:prstGeom prst="rect">
            <a:avLst/>
          </a:prstGeom>
          <a:ln w="12700">
            <a:solidFill>
              <a:srgbClr val="E5E7E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49640" y="1417320"/>
            <a:ext cx="3093415" cy="48006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檢查報告列出資料來源、各類問題數、系統總數比對與原因（結帳日不同、算法不同、需要追查）。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可下載：檢查報告、問題清單（Excel）、改好的資料、稽核紀錄（誰改了什麼）。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架構與分工：誰負責判斷、誰負責決定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32688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判斷對錯只由規則引擎做；AI 只負責說明與整理，結論要經規則引擎重算；修改與規則變更由人決定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7040880" cy="4846320"/>
          </a:xfrm>
          <a:prstGeom prst="roundRect">
            <a:avLst>
              <a:gd name="adj" fmla="val 1887"/>
            </a:avLst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463040"/>
            <a:ext cx="4572000" cy="3200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使用者的瀏覽器（資料不離開這裡）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1874520"/>
            <a:ext cx="137160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6B72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41248" y="1947672"/>
            <a:ext cx="1152144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申報資料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2331720"/>
            <a:ext cx="1152144" cy="56692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TXT／CSV／Excel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423160" y="1828800"/>
            <a:ext cx="2423160" cy="1965960"/>
          </a:xfrm>
          <a:prstGeom prst="roundRect">
            <a:avLst>
              <a:gd name="adj" fmla="val 3721"/>
            </a:avLst>
          </a:prstGeom>
          <a:solidFill>
            <a:srgbClr val="ECFDF5"/>
          </a:solidFill>
          <a:ln w="19050">
            <a:solidFill>
              <a:srgbClr val="0F766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532888" y="1901952"/>
            <a:ext cx="2203704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76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規則引擎（判斷）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2532888" y="2286000"/>
            <a:ext cx="2203704" cy="143560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壽險手冊檢查 256 條</a:t>
            </a:r>
            <a:endParaRPr lang="en-US" sz="120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主檔比對、跨系統對帳、財報勾稽</a:t>
            </a:r>
            <a:endParaRPr lang="en-US" sz="120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同樣資料永遠同樣結果</a:t>
            </a:r>
            <a:endParaRPr lang="en-US" sz="120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每個問題附檢核編號與條文</a:t>
            </a:r>
            <a:endParaRPr lang="en-US" sz="120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能確定正確值時給建議值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166360" y="1828800"/>
            <a:ext cx="2286000" cy="1965960"/>
          </a:xfrm>
          <a:prstGeom prst="roundRect">
            <a:avLst>
              <a:gd name="adj" fmla="val 3721"/>
            </a:avLst>
          </a:prstGeom>
          <a:solidFill>
            <a:srgbClr val="EFF6FF"/>
          </a:solidFill>
          <a:ln w="19050">
            <a:solidFill>
              <a:srgbClr val="1D4ED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276088" y="1901952"/>
            <a:ext cx="2066544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4E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人（決定）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5276088" y="2286000"/>
            <a:ext cx="2066544" cy="143560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逐筆確認後套用建議值</a:t>
            </a:r>
            <a:endParaRPr lang="en-US" sz="120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判斷「請人工判斷」項目</a:t>
            </a:r>
            <a:endParaRPr lang="en-US" sz="120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決定是否送出給 AI</a:t>
            </a:r>
            <a:endParaRPr lang="en-US" sz="120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主管簽章核可規則更新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423160" y="4160520"/>
            <a:ext cx="242316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9050">
            <a:solidFill>
              <a:srgbClr val="6B72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532888" y="4233672"/>
            <a:ext cx="2203704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2532888" y="4617720"/>
            <a:ext cx="2203704" cy="138988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檢查報告、問題清單</a:t>
            </a:r>
            <a:endParaRPr lang="en-US" sz="120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改好的資料（原檔不動）</a:t>
            </a:r>
            <a:endParaRPr lang="en-US" sz="120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稽核紀錄：誰、何時、改了什麼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166360" y="4160520"/>
            <a:ext cx="2286000" cy="1920240"/>
          </a:xfrm>
          <a:prstGeom prst="roundRect">
            <a:avLst>
              <a:gd name="adj" fmla="val 3810"/>
            </a:avLst>
          </a:prstGeom>
          <a:solidFill>
            <a:srgbClr val="FFF7ED"/>
          </a:solidFill>
          <a:ln w="19050">
            <a:solidFill>
              <a:srgbClr val="92400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276088" y="4233672"/>
            <a:ext cx="2066544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2400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送出前的關卡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5276088" y="4617720"/>
            <a:ext cx="2066544" cy="138988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遮蔽身分證、姓名、電話等</a:t>
            </a:r>
            <a:endParaRPr lang="en-US" sz="120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顯示內容，使用者確認才送</a:t>
            </a:r>
            <a:endParaRPr lang="en-US" sz="120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只送允許清單內的網址</a:t>
            </a:r>
            <a:endParaRPr lang="en-US" sz="120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可切換「完全離線」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909560" y="1417320"/>
            <a:ext cx="3733495" cy="2514600"/>
          </a:xfrm>
          <a:prstGeom prst="roundRect">
            <a:avLst>
              <a:gd name="adj" fmla="val 2909"/>
            </a:avLst>
          </a:prstGeom>
          <a:solidFill>
            <a:srgbClr val="F5F3FF"/>
          </a:solidFill>
          <a:ln w="19050">
            <a:solidFill>
              <a:srgbClr val="6D28D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019288" y="1490472"/>
            <a:ext cx="3514039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D28D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AI：Claude（選用，說明與整理）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8019288" y="1874520"/>
            <a:ext cx="3514039" cy="198424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白話解釋單一問題、整理重點、看懂退件通知</a:t>
            </a:r>
            <a:endParaRPr lang="en-US" sz="120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把法規文件轉成規則草稿</a:t>
            </a:r>
            <a:endParaRPr lang="en-US" sz="120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不判斷對錯、不修改資料</a:t>
            </a:r>
            <a:endParaRPr lang="en-US" sz="120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說的筆數、建議值都由規則引擎重算驗證</a:t>
            </a:r>
            <a:endParaRPr lang="en-US" sz="120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轉換的規則要主管核可才會套用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909560" y="4160520"/>
            <a:ext cx="3733495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9050">
            <a:solidFill>
              <a:srgbClr val="6D28D9"/>
            </a:solidFill>
            <a:prstDash val="dash"/>
          </a:ln>
        </p:spPr>
      </p:sp>
      <p:sp>
        <p:nvSpPr>
          <p:cNvPr id="25" name="Text 23"/>
          <p:cNvSpPr txBox="1"/>
          <p:nvPr/>
        </p:nvSpPr>
        <p:spPr>
          <a:xfrm>
            <a:off x="8019288" y="4233672"/>
            <a:ext cx="3514039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D28D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Dify（選用，公司自建 AI 平台）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8019288" y="4617720"/>
            <a:ext cx="3514039" cy="15727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取代線上 Claude，作為同一組 AI 功能的來源</a:t>
            </a:r>
            <a:endParaRPr lang="en-US" sz="120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適合要求資料留在公司內部的單位</a:t>
            </a:r>
            <a:endParaRPr lang="en-US" sz="120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同樣經過遮蔽、確認、允許清單</a:t>
            </a:r>
            <a:endParaRPr lang="en-US" sz="120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未在正式環境實測（見限制）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2103120" y="2423160"/>
            <a:ext cx="320040" cy="0"/>
          </a:xfrm>
          <a:prstGeom prst="line">
            <a:avLst/>
          </a:prstGeom>
          <a:noFill/>
          <a:ln w="22225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4846320" y="2788920"/>
            <a:ext cx="320040" cy="0"/>
          </a:xfrm>
          <a:prstGeom prst="line">
            <a:avLst/>
          </a:prstGeom>
          <a:noFill/>
          <a:ln w="22225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6309360" y="3794760"/>
            <a:ext cx="0" cy="365760"/>
          </a:xfrm>
          <a:prstGeom prst="line">
            <a:avLst/>
          </a:prstGeom>
          <a:noFill/>
          <a:ln w="22225">
            <a:solidFill>
              <a:srgbClr val="92400E"/>
            </a:solidFill>
            <a:prstDash val="dash"/>
            <a:tailEnd type="triangle"/>
          </a:ln>
        </p:spPr>
      </p:sp>
      <p:sp>
        <p:nvSpPr>
          <p:cNvPr id="30" name="Shape 28"/>
          <p:cNvSpPr/>
          <p:nvPr/>
        </p:nvSpPr>
        <p:spPr>
          <a:xfrm flipH="1">
            <a:off x="4846320" y="3794760"/>
            <a:ext cx="320040" cy="365760"/>
          </a:xfrm>
          <a:prstGeom prst="line">
            <a:avLst/>
          </a:prstGeom>
          <a:noFill/>
          <a:ln w="22225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7452360" y="5120640"/>
            <a:ext cx="457200" cy="0"/>
          </a:xfrm>
          <a:prstGeom prst="line">
            <a:avLst/>
          </a:prstGeom>
          <a:noFill/>
          <a:ln w="22225">
            <a:solidFill>
              <a:srgbClr val="92400E"/>
            </a:solidFill>
            <a:prstDash val="dash"/>
            <a:tailEnd type="triangle"/>
          </a:ln>
        </p:spPr>
      </p:sp>
      <p:sp>
        <p:nvSpPr>
          <p:cNvPr id="32" name="Shape 30"/>
          <p:cNvSpPr/>
          <p:nvPr/>
        </p:nvSpPr>
        <p:spPr>
          <a:xfrm flipV="1">
            <a:off x="7452360" y="3291840"/>
            <a:ext cx="457200" cy="1188720"/>
          </a:xfrm>
          <a:prstGeom prst="line">
            <a:avLst/>
          </a:prstGeom>
          <a:noFill/>
          <a:ln w="22225">
            <a:solidFill>
              <a:srgbClr val="92400E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效益與驗證程度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32688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分三個層次標示，避免把估算或未驗證的說成已實測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3515258" cy="4800600"/>
          </a:xfrm>
          <a:prstGeom prst="roundRect">
            <a:avLst>
              <a:gd name="adj" fmla="val 2081"/>
            </a:avLst>
          </a:prstGeom>
          <a:solidFill>
            <a:srgbClr val="ECFDF5"/>
          </a:solidFill>
          <a:ln w="12700">
            <a:solidFill>
              <a:srgbClr val="ECFDF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00200"/>
            <a:ext cx="3058058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F76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已實測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148840"/>
            <a:ext cx="3058058" cy="3977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模擬資料：可判定 64 項錯誤全部檢出，漏報 0。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正確版資料誤報 0 項；解答以外 21 項皆可歸為連帶或系統總數差額。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套用 21 個建議值後問題 88 → 58，新產生 0 項。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自動化測試（2026-10-28 執行）：單元 139 項、瀏覽器 15 組全數通過。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338218" y="1463040"/>
            <a:ext cx="3515258" cy="4800600"/>
          </a:xfrm>
          <a:prstGeom prst="roundRect">
            <a:avLst>
              <a:gd name="adj" fmla="val 2081"/>
            </a:avLst>
          </a:prstGeom>
          <a:solidFill>
            <a:srgbClr val="FFFBEB"/>
          </a:solidFill>
          <a:ln w="12700">
            <a:solidFill>
              <a:srgbClr val="FFFBE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66818" y="1600200"/>
            <a:ext cx="3058058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2400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合理估算（未實測）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4566818" y="2148840"/>
            <a:ext cx="3058058" cy="3977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人工逐欄核對改為只看工具列出的問題，可縮短檢核時間；實際節省幅度須在真實作業中量測。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退件前先找出必須修改的問題，可望減少退件往返次數。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127797" y="1463040"/>
            <a:ext cx="3515258" cy="4800600"/>
          </a:xfrm>
          <a:prstGeom prst="roundRect">
            <a:avLst>
              <a:gd name="adj" fmla="val 2081"/>
            </a:avLst>
          </a:prstGeom>
          <a:solidFill>
            <a:srgbClr val="FEF2F2"/>
          </a:solidFill>
          <a:ln w="12700">
            <a:solidFill>
              <a:srgbClr val="FEF2F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356397" y="1600200"/>
            <a:ext cx="3058058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B91C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尚未驗證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8356397" y="2148840"/>
            <a:ext cx="3058058" cy="3977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真實公司申報資料的準確率。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真實 Claude／Dify 模型的回應品質與提示注入防護。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正式部署環境（安全政策、代理伺服器、正式金鑰簽章）。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法規條文版本的業務核實。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Jheng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Jheng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申報資料檢核助手｜正確性證據與三分鐘展示</dc:title>
  <dc:subject>PptxGenJS Presentation</dc:subject>
  <dc:creator>PptxGenJS</dc:creator>
  <cp:lastModifiedBy>PptxGenJS</cp:lastModifiedBy>
  <cp:revision>1</cp:revision>
  <dcterms:created xsi:type="dcterms:W3CDTF">2026-10-28T04:45:13Z</dcterms:created>
  <dcterms:modified xsi:type="dcterms:W3CDTF">2026-10-28T04:45:13Z</dcterms:modified>
</cp:coreProperties>
</file>