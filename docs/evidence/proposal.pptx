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ef5aa087-612a-7690-47f1-c7918f178eed}">
          <p14:sldIdLst>
            <p14:sldId id="256"/>
          </p14:sldIdLst>
        </p14:section>
        <p14:section name="提案摘要" id="{fbf9ab59-0c28-970c-02aa-c47da5e10adc}">
          <p14:sldIdLst>
            <p14:sldId id="257"/>
          </p14:sldIdLst>
        </p14:section>
        <p14:section name="01 提案概述" id="{4c5e16b5-3275-3bc9-e2a5-80a1da3e0503}">
          <p14:sldIdLst>
            <p14:sldId id="258"/>
            <p14:sldId id="259"/>
          </p14:sldIdLst>
        </p14:section>
        <p14:section name="02 解決方案與架構" id="{d7b93199-3d5a-7b6f-32e1-fed228849ccd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3 應用技術" id="{a19289be-170b-f296-cb8e-06e1958eb11a}">
          <p14:sldIdLst>
            <p14:sldId id="268"/>
          </p14:sldIdLst>
        </p14:section>
        <p14:section name="04 預期效益與商業潛力" id="{b3b21083-efb8-0098-814d-5da9f1bb9df6}">
          <p14:sldIdLst>
            <p14:sldId id="269"/>
          </p14:sldIdLst>
        </p14:section>
        <p14:section name="05 補充資料" id="{f52d87df-9714-c0a2-33fc-71b04c31781d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09728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申報資料檢核助手｜企畫書　展示資料為依填報手冊製作、刻意含錯誤的模擬資料，非真實申報資料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0972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10972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FF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FD8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應用企畫書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申報資料檢核助手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在瀏覽器內，用規則引擎檢核保險年度申報資料：找出對不上規則的地方、說明依據、給可核對的修正。</a:t>
            </a:r>
            <a:endParaRPr lang="en-US" sz="18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團隊名稱：【請填入團隊名稱】</a:t>
            </a:r>
            <a:endParaRPr lang="en-US" sz="18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選擇題目：【請填入選擇的企業題目】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FB4B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日期：2026-10-28（文中數字與截圖皆由工具實際執行產生）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提案摘要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協助評審快速掌握方案核心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985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團隊名稱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【請填入團隊名稱】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選擇的題目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【請填入選擇的企業題目】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產品／服務名稱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申報資料檢核助手（單一網頁工具，可離線、可直接開啟）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解決方案設計重點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上傳申報資料 → 規則引擎找出問題並說明依據 → 逐筆確認後套用可核對的修正 → 疑似異常交人工判斷 → 匯出報告與稽核紀錄。資料只在瀏覽器內處理，不上傳。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使用技術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規則引擎（自訂 DSL、三值邏輯、十進位精度）為核心；AI（Claude）只做白話說明與整理，結論一律由規則引擎重算核對；安全技術：DOMPurify 防 XSS、送 AI 前個資遮蔽、提示注入標籤隔離、法規更新主管數位簽章核可。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預期效益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申報前自我檢查、減少退件往返。實測（模擬資料）：可判定錯誤 64/64 全數檢出、漏報 0；正確版資料誤報 0；套用 21 個建議值後問題 88→58。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9728" marR="109728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　提案概述：核心問題（三大痛點）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選擇的企業題目：【請填入選擇的企業題目】（佔位符，請填入實際題目）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15258" cy="2743200"/>
          </a:xfrm>
          <a:prstGeom prst="roundRect">
            <a:avLst>
              <a:gd name="adj" fmla="val 2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72768"/>
            <a:ext cx="3186074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 1｜跨系統整併的「時間差」斷層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286000"/>
            <a:ext cx="3186074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財報要匯總銷售、理賠、投資等上游系統；各系統結帳時點或定義有微小差異，金額常兜不攏。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缺乏自動依檢核規則驗證時，只能人工逐筆比對。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3515258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4462272"/>
            <a:ext cx="3186074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工具如何解：自動與各系統「控制總數」逐期比對，差異自動歸因（結帳日不同／定義不同／需追查），不必人工對帳。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8218" y="1463040"/>
            <a:ext cx="3515258" cy="2743200"/>
          </a:xfrm>
          <a:prstGeom prst="roundRect">
            <a:avLst>
              <a:gd name="adj" fmla="val 2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02810" y="1572768"/>
            <a:ext cx="3186074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 2｜跨欄位邏輯矛盾與代碼錯置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02810" y="2286000"/>
            <a:ext cx="3186074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資產負債表各項加總不平、期初與期末結轉兜不攏。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商品代號、會計科目代號輸入錯誤，或使用了已失效的舊代號。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38218" y="4343400"/>
            <a:ext cx="3515258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02810" y="4462272"/>
            <a:ext cx="3186074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工具如何解：財報勾稽（加總、上下層合計、資產＝負債）、期初期末結轉檢查、商品與科目代號比對（含停售日）。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27797" y="1463040"/>
            <a:ext cx="3515258" cy="2743200"/>
          </a:xfrm>
          <a:prstGeom prst="roundRect">
            <a:avLst>
              <a:gd name="adj" fmla="val 2667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92389" y="1572768"/>
            <a:ext cx="3186074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9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 3｜退件除錯的「黑盒子」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92389" y="2286000"/>
            <a:ext cx="3186074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退件常只給籠統代碼（如 Error 504：欄位驗證失敗），不指出哪一列、哪個變數。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精算與財務人員得在數萬筆資料中重查，耗時極大。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7797" y="4343400"/>
            <a:ext cx="3515258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92389" y="4462272"/>
            <a:ext cx="3186074" cy="1691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工具如何解：每個問題定位到具體資料、第幾列、哪個欄位與檢核編號；退件通知可貼進「看懂退件通知」反查。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　提案概述：價值主張與服務對象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10048" cy="2834640"/>
          </a:xfrm>
          <a:prstGeom prst="roundRect">
            <a:avLst>
              <a:gd name="adj" fmla="val 2581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5044288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價值主張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5044288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把「好幾天的人工對帳」變成幾秒的自動交叉邏輯驗證：跨系統對帳、財報勾稽、代碼比對一次跑完。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把「籠統的退件代碼」變成可定位的逐列問題：每項都指到第幾列、哪個欄位、依據哪一條。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每個修改都有建議值且可核對、不亂改；未違規但可疑的只提醒、交人工判斷。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資料只在瀏覽器內處理、不上傳；可切換完全離線。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33008" y="1417320"/>
            <a:ext cx="5410048" cy="2834640"/>
          </a:xfrm>
          <a:prstGeom prst="roundRect">
            <a:avLst>
              <a:gd name="adj" fmla="val 2581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5888" y="1554480"/>
            <a:ext cx="5044288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服務對象與核心需求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15888" y="2011680"/>
            <a:ext cx="5044288" cy="2103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對象：保險公司的精算、財務、申報人員，以及受理申報的內部或主管機關單位。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需求：在龐大複雜的報表中快速定位錯誤、知道依據哪一條、拿到可直接套用的修正。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需求：保護個資、流程可稽核（誰在何時改了什麼）、可離線作業。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48056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0"/>
            <a:ext cx="10728655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目標與邊界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983480"/>
            <a:ext cx="10728655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目標是把申報失誤與退件風險降到最低、縮短對帳與除錯時間。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工具是申報前的自我檢查，不是主管機關的正式審核，通過檢查不保證不被退件；判斷由規則引擎做、對得到條文，AI 只負責說明。</a:t>
            </a:r>
            <a:endParaRPr lang="en-US" sz="135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　解決方案與架構說明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FF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整體架構、運作流程、操作體驗，以及痛點如何被解決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整體方案架構：誰負責判斷、誰負責決定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判斷對錯只由規則引擎做；AI 只負責說明與整理，結論要經規則引擎重算；修改與規則變更由人決定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040880" cy="4846320"/>
          </a:xfrm>
          <a:prstGeom prst="roundRect">
            <a:avLst>
              <a:gd name="adj" fmla="val 188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使用者的瀏覽器（資料不離開這裡）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371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947672"/>
            <a:ext cx="115214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申報資料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31720"/>
            <a:ext cx="1152144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TXT／CSV／Excel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1828800"/>
            <a:ext cx="2423160" cy="1965960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32888" y="1901952"/>
            <a:ext cx="220370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規則引擎（判斷）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532888" y="2286000"/>
            <a:ext cx="2203704" cy="1435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壽險手冊檢查 256 條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主檔比對、跨系統對帳、財報勾稽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同樣資料永遠同樣結果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每個問題附檢核編號與條文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能確定正確值時給建議值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1828800"/>
            <a:ext cx="2286000" cy="1965960"/>
          </a:xfrm>
          <a:prstGeom prst="roundRect">
            <a:avLst>
              <a:gd name="adj" fmla="val 3721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76088" y="1901952"/>
            <a:ext cx="206654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人（決定）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2286000"/>
            <a:ext cx="2066544" cy="1435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逐筆確認後套用建議值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判斷「請人工判斷」項目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決定是否送出給 AI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主管簽章核可規則更新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4160520"/>
            <a:ext cx="2423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32888" y="4233672"/>
            <a:ext cx="220370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532888" y="4617720"/>
            <a:ext cx="2203704" cy="1389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檢查報告、問題清單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改好的資料（原檔不動）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稽核紀錄：誰、何時、改了什麼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66360" y="4160520"/>
            <a:ext cx="2286000" cy="1920240"/>
          </a:xfrm>
          <a:prstGeom prst="roundRect">
            <a:avLst>
              <a:gd name="adj" fmla="val 3810"/>
            </a:avLst>
          </a:prstGeom>
          <a:solidFill>
            <a:srgbClr val="FFF7ED"/>
          </a:solidFill>
          <a:ln w="1905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76088" y="4233672"/>
            <a:ext cx="206654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送出前的關卡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4617720"/>
            <a:ext cx="2066544" cy="13898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遮蔽身分證、姓名、電話等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顯示內容，使用者確認才送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只送允許清單內的網址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可切換「完全離線」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09560" y="1417320"/>
            <a:ext cx="3733495" cy="4846320"/>
          </a:xfrm>
          <a:prstGeom prst="roundRect">
            <a:avLst>
              <a:gd name="adj" fmla="val 1959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19288" y="1490472"/>
            <a:ext cx="3514039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AI：Claude（選用，說明與整理）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019288" y="1874520"/>
            <a:ext cx="3514039" cy="43159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claude.ai 線上版，用開啟者自己的帳號，不需金鑰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白話解釋單一問題、整理重點、看懂退件通知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把法規文件轉成規則草稿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不判斷對錯、不修改資料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說的筆數、建議值都由規則引擎重算驗證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轉換的規則要主管核可才會套用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回覆以純文字顯示，不執行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送出前遮蔽個資、顯示完整內容讓使用者確認</a:t>
            </a:r>
            <a:endParaRPr lang="en-US" sz="1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可切換「完全離線」，完全不連外部網站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03120" y="2423160"/>
            <a:ext cx="32004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846320" y="2788920"/>
            <a:ext cx="320040" cy="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09360" y="3794760"/>
            <a:ext cx="0" cy="365760"/>
          </a:xfrm>
          <a:prstGeom prst="line">
            <a:avLst/>
          </a:prstGeom>
          <a:noFill/>
          <a:ln w="22225">
            <a:solidFill>
              <a:srgbClr val="92400E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4846320" y="3794760"/>
            <a:ext cx="320040" cy="365760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52360" y="3749040"/>
            <a:ext cx="457200" cy="0"/>
          </a:xfrm>
          <a:prstGeom prst="line">
            <a:avLst/>
          </a:prstGeom>
          <a:noFill/>
          <a:ln w="22225">
            <a:solidFill>
              <a:srgbClr val="92400E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運作流程與操作體驗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用一份「刻意含錯誤」的試用 Excel（7 張工作表）走完整流程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36003" cy="4023360"/>
          </a:xfrm>
          <a:prstGeom prst="roundRect">
            <a:avLst>
              <a:gd name="adj" fmla="val 359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8042" y="16459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3804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94560"/>
            <a:ext cx="1853123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上傳資料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788920"/>
            <a:ext cx="1816547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拖入一個 Excel，辨識 7 種資料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4114800"/>
            <a:ext cx="1816547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4206240"/>
            <a:ext cx="1816547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E18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對應痛點 1：多個上游系統的資料一次放入，自動辨識、幾秒內跑完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13243" y="1463040"/>
            <a:ext cx="2036003" cy="4023360"/>
          </a:xfrm>
          <a:prstGeom prst="roundRect">
            <a:avLst>
              <a:gd name="adj" fmla="val 359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02645" y="16459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02645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904683" y="2194560"/>
            <a:ext cx="1853123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找到問題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22971" y="2788920"/>
            <a:ext cx="1816547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列出 82 項待處理，依類型分組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922971" y="4114800"/>
            <a:ext cx="1816547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22971" y="4206240"/>
            <a:ext cx="1816547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E18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對應痛點 1、2：跨系統對帳、財報勾稽、代碼比對的問題全部列出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77846" y="1463040"/>
            <a:ext cx="2036003" cy="4023360"/>
          </a:xfrm>
          <a:prstGeom prst="roundRect">
            <a:avLst>
              <a:gd name="adj" fmla="val 359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67248" y="16459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6724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169286" y="2194560"/>
            <a:ext cx="1853123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說明依據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187574" y="2788920"/>
            <a:ext cx="1816547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問題、怎麼改、依據的手冊條文與編號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87574" y="4114800"/>
            <a:ext cx="1816547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87574" y="4206240"/>
            <a:ext cx="1816547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E18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對應痛點 3：每項定位到第幾列、哪個欄位，不再是黑盒子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42449" y="1463040"/>
            <a:ext cx="2036003" cy="4023360"/>
          </a:xfrm>
          <a:prstGeom prst="roundRect">
            <a:avLst>
              <a:gd name="adj" fmla="val 359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1851" y="16459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31851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433889" y="2194560"/>
            <a:ext cx="1853123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確認或交人工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452177" y="2788920"/>
            <a:ext cx="1816547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看過依據後套用建議值；疑似異常只標示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452177" y="4114800"/>
            <a:ext cx="1816547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4206240"/>
            <a:ext cx="1816547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E18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對應痛點 2：結轉、加總等可確定值的直接套用，其餘交人工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607052" y="1463040"/>
            <a:ext cx="2036003" cy="4023360"/>
          </a:xfrm>
          <a:prstGeom prst="roundRect">
            <a:avLst>
              <a:gd name="adj" fmla="val 3593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396454" y="164592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39645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698492" y="2194560"/>
            <a:ext cx="1853123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匯出報告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716780" y="2788920"/>
            <a:ext cx="1816547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報告、問題清單、改好的資料、稽核紀錄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716780" y="4114800"/>
            <a:ext cx="1816547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16780" y="4206240"/>
            <a:ext cx="1816547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E185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對應痛點 1–3：系統總數比對與歸因、逐列問題、稽核軌跡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操作體驗 1：上傳資料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資料只在瀏覽器內處理，不上傳</a:t>
            </a:r>
            <a:endParaRPr lang="en-US" sz="1400" dirty="0"/>
          </a:p>
        </p:txBody>
      </p:sp>
      <p:pic>
        <p:nvPicPr>
          <p:cNvPr id="4" name="Image 0" descr="操作體驗 1：上傳資料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7680960" cy="4800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371600"/>
            <a:ext cx="3093415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拖入含錯誤的試用 Excel，工具依工作表名稱分配成 7 份資料並列出筆數。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「說明」「錯誤解答」不是申報資料，標示「沒有使用」。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操作體驗 2：找到問題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刻意含錯誤的資料，凸顯工具抓得到</a:t>
            </a:r>
            <a:endParaRPr lang="en-US" sz="1400" dirty="0"/>
          </a:p>
        </p:txBody>
      </p:sp>
      <p:pic>
        <p:nvPicPr>
          <p:cNvPr id="4" name="Image 0" descr="操作體驗 2：找到問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7680960" cy="4800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371600"/>
            <a:ext cx="3093415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上方卡片：資料正確比例、待修正 82 項、有建議值數量。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清單依「格式錯誤／內容矛盾／檔案對不上／總數不符／需人工判斷」分組。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操作體驗 3：說明依據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每個問題對得到手冊條文</a:t>
            </a:r>
            <a:endParaRPr lang="en-US" sz="1400" dirty="0"/>
          </a:p>
        </p:txBody>
      </p:sp>
      <p:pic>
        <p:nvPicPr>
          <p:cNvPr id="4" name="Image 0" descr="操作體驗 3：說明依據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7680960" cy="4800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371600"/>
            <a:ext cx="3093415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點「年滿期 20 年，迄日應為起日+20年-1天」。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右側三段：問題、怎麼改（建議值），以及依據（檢核編號 25204_L2005）。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建議值由規則計算，不是 AI 產生。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操作體驗 4：確認修正或交人工判斷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不亂改：每個修改都要有人看過依據</a:t>
            </a:r>
            <a:endParaRPr lang="en-US" sz="1400" dirty="0"/>
          </a:p>
        </p:txBody>
      </p:sp>
      <p:pic>
        <p:nvPicPr>
          <p:cNvPr id="4" name="Image 0" descr="操作體驗 4：確認修正或交人工判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7680960" cy="4800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371600"/>
            <a:ext cx="3093415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看過依據後按「套用建議值」，只改這一筆並重新檢查（已修改 1 個地方，問題從 82 個減為 81 個）。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「保險期間起日後 45 天即發生身故」標示「請人工判斷」，沒有修改按鈕，交核保／理賠人員。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操作體驗 5：匯出報告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結果可核對、可稽核</a:t>
            </a:r>
            <a:endParaRPr lang="en-US" sz="1400" dirty="0"/>
          </a:p>
        </p:txBody>
      </p:sp>
      <p:pic>
        <p:nvPicPr>
          <p:cNvPr id="4" name="Image 0" descr="操作體驗 5：匯出報告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371600"/>
            <a:ext cx="7680960" cy="480060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49640" y="1371600"/>
            <a:ext cx="3093415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檢查報告列出資料來源、各類問題數、與系統總數的比對與原因。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可下載：檢查報告、問題清單（Excel）、改好的資料、稽核紀錄。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　應用技術說明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採用的 AI 與其它技術、選用原因，以及在哪些步驟發揮作用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749040"/>
                <a:gridCol w="3017520"/>
                <a:gridCol w="203911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技術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選用原因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作用步驟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規則引擎（自訂 DSL）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依填報手冊把 256 條檢核寫成可讀規則；三值邏輯、十進位精度（不經浮點）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判斷要固定、可追查、可逐條對到條文；金額比較不能失真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找出問題（步驟 2）、給建議值（步驟 4）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Claude（claude.ai 線上版）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白話解釋單一問題、整理重點、看懂退件通知、把法規文件轉成規則草稿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降低理解門檻；用開啟者自己的帳號、不需 API 金鑰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說明（步驟 3）；結論一律由規則引擎重算驗證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個資遮蔽（自建比對＋樣式）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 AI 前遮蔽身分證、姓名、地址、電話、Email、卡號；送出前再掃描一次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保護被保險人個資；fail-closed：仍偵測到個資就不送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送出前（步驟 3）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提示注入防護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使用者資料包在 &lt;declaration_data&gt; 標籤、加安全指示；偵測資料裡的指令並標示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避免資料裡的惡意指令操控 AI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AI 送出與回覆（步驟 3）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DOMPurify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所有寫入畫面的內容先過濾，AI 回覆以純文字顯示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防 DOM XSS（檔案、規則包、AI 回覆都可能夾帶）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全程畫面渲染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數位簽章核可（ECDSA P-256）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法規更新包要主管私鑰簽章、驗章通過才套用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避免未授權或被竄改的規則被套用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法規更新流程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SheetJS / DOMPurify 等前端元件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解析 Excel、壓縮炸彈預檢、安全渲染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純前端、免安裝、可離線、資料不出瀏覽器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上傳與解析（步驟 1）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　預期效益與商業潛力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以量化／質化說明效益並回扣痛點，分三層標示驗證程度，避免過度宣稱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15258" cy="4800600"/>
          </a:xfrm>
          <a:prstGeom prst="roundRect">
            <a:avLst>
              <a:gd name="adj" fmla="val 2081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3058058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已實測（模擬資料）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058058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回扣痛點 1、2（對帳與邏輯）：可判定錯誤 64/64 全數檢出、漏報 0，含跨系統總數差額與結轉、代碼等。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回扣「不亂改」：正確版資料誤報 0；套用 21 個建議值後問題 88→58，新產生 0。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自動化測試：單元 139 項、瀏覽器全數通過。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38218" y="1417320"/>
            <a:ext cx="3515258" cy="4800600"/>
          </a:xfrm>
          <a:prstGeom prst="roundRect">
            <a:avLst>
              <a:gd name="adj" fmla="val 2081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554480"/>
            <a:ext cx="3058058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合理估算（未實測）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66818" y="2148840"/>
            <a:ext cx="3058058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回扣痛點 3（黑盒子）：籠統退件變成可定位的逐列問題，大幅縮短除錯時間。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回扣「好幾天的人工對帳」：自動交叉邏輯驗證，可縮短對帳時間、減少退件往返。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實際節省幅度須在真實作業中量測。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27797" y="1417320"/>
            <a:ext cx="3515258" cy="4800600"/>
          </a:xfrm>
          <a:prstGeom prst="roundRect">
            <a:avLst>
              <a:gd name="adj" fmla="val 2081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56397" y="1554480"/>
            <a:ext cx="3058058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商業潛力與落地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56397" y="2148840"/>
            <a:ext cx="3058058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落地條件：純前端、免安裝、可離線，資料不出公司；法規版本需業務單位核實。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擴大應用：同架構可擴到其他險種（已含癌症、傷害險）與其他格式嚴格的申報。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可包成內部工具或 SaaS；規則更新走主管簽章核可，便於治理。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　補充資料／備註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40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FF2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資料來源與假設、證據明細、測試方法、限制（本節不計入簡報頁數限制）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資料來源、假設與方法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10048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5044288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資料來源與假設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5044288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規則來源：主辦單位提供之個人壽險（2025 填報年度）、個人癌症保險（2024）、新式傷害保險（2021）填報手冊與檢核規則。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測試資料：依手冊格式自建的模擬資料，刻意埋入已知錯誤並附「錯誤解答」，非真實申報資料。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證據統計假設：檢核編號相同、且保單相同才算「檢出」；未判定 8 項不計入分母（5 項解答無編號、3 項為預設未啟用的範例規則）。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「連帶問題」依同一張保單已在解答中判定，未逐筆人工確認因果。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33008" y="1371600"/>
            <a:ext cx="5410048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15888" y="1463040"/>
            <a:ext cx="5044288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測試方法與可重現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15888" y="1874520"/>
            <a:ext cx="5044288" cy="4206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證據表由工具在真正的頁面上實跑產生（放入資料與錯誤解答、逐項對照、套用建議值後重新檢查），可重跑。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安全測試：紅隊實跑 XSS、提示注入、個資遮蔽繞過、惡意規則包、金鑰竊取等 payload，均擋下。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限制與未驗證：真實公司資料的準確率、真實 Claude 模型的回應、正式部署環境、法規版本的業務核實，均尚未驗證。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SheetJS 目前為 0.18.5（官方修補版 0.20.3 下載網域被擋）；解析前有壓縮檔預檢與原型污染防護。</a:t>
            </a:r>
            <a:endParaRPr lang="en-US" sz="1350" dirty="0"/>
          </a:p>
        </p:txBody>
      </p:sp>
      <p:sp>
        <p:nvSpPr>
          <p:cNvPr id="9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正確性證據摘要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資料：samples/dirty（模擬資料）｜錯誤解答 72 項（皆為工具實跑結果）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64208"/>
            <a:ext cx="229354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可判定的解答項目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2293544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 / 64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24912"/>
            <a:ext cx="2293544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全部檢出，漏報 0 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0824" y="155448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7984" y="1664208"/>
            <a:ext cx="229354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解答以外的問題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27984" y="2011680"/>
            <a:ext cx="2293544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 項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527984" y="2724912"/>
            <a:ext cx="2293544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連帶 15・系統總數差額 6・無法解釋 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3008" y="155448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0168" y="1664208"/>
            <a:ext cx="229354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正確版資料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70168" y="2011680"/>
            <a:ext cx="2293544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項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370168" y="2724912"/>
            <a:ext cx="2293544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誤報 0 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75191" y="155448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F3F6F7"/>
          </a:solidFill>
          <a:ln w="12700">
            <a:solidFill>
              <a:srgbClr val="F3F6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12351" y="1664208"/>
            <a:ext cx="229354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 21 個建議值後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12351" y="2011680"/>
            <a:ext cx="2293544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88 → 58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9212351" y="2724912"/>
            <a:ext cx="2293544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新產生問題 0 項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566160"/>
            <a:ext cx="11094415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詳細逐項對照見下一頁起的「證據表」。數字全部由 tools/evidence.js 實跑產生，可重跑。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證據表（1–15 / 72）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預期違反規則 → 實際是否檢出 → 漏報／未判定 → 修正後結果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51560"/>
                <a:gridCol w="1600200"/>
                <a:gridCol w="4096512"/>
                <a:gridCol w="1417320"/>
                <a:gridCol w="822960"/>
                <a:gridCol w="17373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保單／案例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預期問題（解答）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修正後結果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23900_L0802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出生日期 2 月 30 日 (不存在的日期)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23900_L0802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出生日期誤填民國年 (076 年)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24901_L0613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P250001301/A01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年滿期 T 卻填保險期間 999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25204_L2005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P250001801/A01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年滿期迄日少算一年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24300_L1904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P250001401/A01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新契約加保日期 ≠ 保險期間起日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26102_L1503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滿期退保日期 ≠ 保險期間迄日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21800_L3302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P250000201/A01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幣別填 TWD (代碼表為 NTD)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10400_L3001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P250000301/A01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通路別填 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20300_L0902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性別填 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10400_L0201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P250002201/A01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保單編號靠右填寫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10400_L0501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P250002201/A01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保險金額未補前置 0 (以空白補位)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25102_L1703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P250002401/A01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2004 年後保單分紅類別填 T(強制分紅)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21001_L1803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P250002501/A01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商品類別編號公司代碼錯誤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臺幣保單原幣保額 ≠ 臺幣保額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30201_L0302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P250003501/A01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只有一筆資料異動序號卻填 00001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證據表（16–30 / 72）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預期違反規則 → 實際是否檢出 → 漏報／未判定 → 修正後結果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51560"/>
                <a:gridCol w="1600200"/>
                <a:gridCol w="4096512"/>
                <a:gridCol w="1417320"/>
                <a:gridCol w="822960"/>
                <a:gridCol w="17373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保單／案例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預期問題（解答）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修正後結果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30213_L1306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P250000401/A01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停效後下一筆加保別填 INN 而非 RNN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30107_P0901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同保單兩筆性別不一致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30205_P0502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P250002601/A01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保額增加(INN)後保額反而較小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X002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P250003601/A01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被保險人投保年齡 150 歲 (出生日期誤植)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L4403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P250003701/A01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職業類別 8(拒保) 但職業分類代碼不為 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24602_L2703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身障等級 2 但身障類別 000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25002_L1233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P250004301/A01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次標準體原因=1 但體檢類別=1(標準體)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24701_L4501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P250004401/A01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新契約要保人郵遞區號填 999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22300_L4602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被保險人郵遞區號 000 不存在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25304_L2106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P250004901/A01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定期壽險還本型態填 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25805_L4202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停效但停(失)效原因填 N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26104_L1504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P250007501/A01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退保別 XED 但退保日期不為 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10400_L3701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P250005301/A01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公司保單險種代號含全形字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30301_LD012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P250002301/A01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疾病死亡(DEA)但給付檔漏報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30312_LD019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P250004601/A01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給付發生日期與承保退保日期不一致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證據表（31–45 / 72）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預期違反規則 → 實際是否檢出 → 漏報／未判定 → 修正後結果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51560"/>
                <a:gridCol w="1600200"/>
                <a:gridCol w="4096512"/>
                <a:gridCol w="1417320"/>
                <a:gridCol w="822960"/>
                <a:gridCol w="17373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保單／案例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預期問題（解答）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修正後結果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26600_D1002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P250003001/A01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理賠發生日期早於保險期間起日 (承保退保日期未同步，連帶 30312_LD019)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26904_D1402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外因(意外)死亡，承保退保別卻填 DEA(疾病死亡)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26901_D1402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P250004801/A01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ICD-10 代碼含小數點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26400_D1803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P250001201/A01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給付日期早於發生日期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30307_LD013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Z99999999999999/A01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給付資料在承保檔找不到對應保單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30202_L0302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P250005801/A01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同一筆資料重複填送 (主鍵重複)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10300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資料長度不足 (少一個欄位)；該筆 (P250005901/A01) 無法拆欄，客戶資料會連帶出現 C007「保單不在承保檔」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F003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檔案中間有空白行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P004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P250011101/A01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復效(RNN)時保額變動，未以保額增加(INN)申報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有參考值・人工修正原系統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P24LOST0001/A01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上年度期末有效保單，本年度漏報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P003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P250011801/A01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本年度期初保額 ≠ 上年度期末保額 (上年度末增額未申報)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有參考值・人工修正原系統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P002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P250011701/A01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本年度以持續有效(XED)申報，但上年度申報檔無此保單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6/30 給付，理賠系統以入帳日計入 7 月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未判定・無檢核編號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人工對照差額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同上 (相互抵銷)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未判定・無檢核編號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人工對照差額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12/30 給付，理賠系統計入次年 1 月 (跨年度)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未判定・無檢核編號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人工對照差額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證據表（46–60 / 72）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預期違反規則 → 實際是否檢出 → 漏報／未判定 → 修正後結果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51560"/>
                <a:gridCol w="1600200"/>
                <a:gridCol w="4096512"/>
                <a:gridCol w="1417320"/>
                <a:gridCol w="822960"/>
                <a:gridCol w="17373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保單／案例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預期問題（解答）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修正後結果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保單管理系統外幣保單以原幣加總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未判定・無檢核編號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人工對照差額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新契約系統多 1 件 285 萬元，申報漏報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未判定・無檢核編號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人工對照差額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S008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應付保險給付與給付明細差一筆 12/30 給付 (會計次年入帳)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S003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責任準備金期末餘額數字對調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S005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連帶造成資產負債表不平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S002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 IFRS 9 後已停用之「備供出售金融資產」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有參考值・人工修正原系統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科目代號誤植 (1401 → 1410)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有參考值・人工修正原系統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U002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P250006201/A01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投保年齡 78 歲承保終身壽險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未判定・規則未啟用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P250008401/A01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新契約保額 4,000 萬元未體檢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未判定・規則未啟用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U007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死亡給付在事故後 120 天才給付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未判定・規則未啟用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P250006001/A01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20230910 起保仍使用 2014 年底停售的舊版代號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P250007301/A01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商品代號第 10、11 碼對調（201141M11WA9900）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P250000901/A01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被保險人證號檢查碼錯誤 (J195366528)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P250002801/A01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要保人郵遞區號 813 與臺北市中正區地址不符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P250001901/A01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同一證號 S272264127 姓名不同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證據表（61–72 / 72）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預期違反規則 → 實際是否檢出 → 漏報／未判定 → 修正後結果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51560"/>
                <a:gridCol w="1600200"/>
                <a:gridCol w="4096512"/>
                <a:gridCol w="1417320"/>
                <a:gridCol w="822960"/>
                <a:gridCol w="173736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保單／案例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預期問題（解答）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實際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修正後結果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同一證號 R281813824 出生日期不同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P250001601/A01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同一保單內同一證號出生日期不同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P250003201/A01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承保保單沒有客戶資料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Z88888888888888/A01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客戶資料的保單不在承保檔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65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承保檔出生日期不合法，客戶資料有正確值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66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承保檔出生日期為民國年，客戶資料有正確值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67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P250001101/A01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承保檔性別代碼錯誤，客戶資料有正確值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套用建議值後已消失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68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身份為本人，但要保人與被保險人證號不同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無建議值・人工修正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69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P250008701/A01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新契約投保年齡 86 歲（出生 19390901）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請人工判斷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交人工判斷（不修改）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A002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P250008601/A01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應繳總保費合計只有同商品正常水準的 1/10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請人工判斷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交人工判斷（不修改）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A003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P250009001/A01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20250527 起保，45 天後（20250711）疾病身故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請人工判斷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交人工判斷（不修改）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72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A004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P250006401/A01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與保單 P250006501 為同一被保險人：20250218 先領生命末期提前給付，60 天後（20250419）身故給付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檢出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請人工判斷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交人工判斷（不修改）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解答以外的問題（1–11 / 21）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不在解答裡的問題全部列出，供評審自行核對是否為誤報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737360"/>
                <a:gridCol w="914400"/>
                <a:gridCol w="5879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工具訊息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F004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P250005301/A01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含全形字或中文字 (限使用英數型態半形資料)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30212_L1305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P250000401/A01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加保別=INN，但上一筆退保別為 LNN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30205_P0502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P250000401/A01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保額增加(INN)後保額應大於上一筆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K0001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P250005801/A01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主鍵重複：與第 75 行保單號碼與異動序號相同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30212_L1305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P250005801/A01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加保別 XED(期初有效) 只能是保單的第一筆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30228_P1504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P250005801/A01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退保別=EOY(期末有效)應為保單最後一筆異動，但其後仍有資料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10400_D1401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P250004801/A01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死亡及完全失能原因(ICD-10-CM)含不允許的字元：「C22.0」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30312_LD019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P250003001/A01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承保退保日期 20250920 與給付發生日期 20210413 不相等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30309_LD012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P250005001/A01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疾病死亡之應給付金額與承保檔疾病身故保險金不同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C009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P250000901/A01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承保檔被保險人身份為本人(1)，但要保人 黃建宏(J195366527) 與被保險人 黃建宏(J195366528) 證號不同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P250001601/A01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被保險人出生日期：承保檔為 19640301，客戶資料為 19650301（蕭宗翰）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解答以外的問題（12–21 / 21）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不在解答裡的問題全部列出，供評審自行核對是否為誤報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737360"/>
                <a:gridCol w="914400"/>
                <a:gridCol w="587959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分類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檢核編號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工具標示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工具訊息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C008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P250001701/A01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被保險人性別：承保檔為 1，客戶資料為 2（廖建宏）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P250005901/A01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 P250005901/A01 上年度期末為有效保單，本年度申報檔查無資料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P003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P250002701/A01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期初保額 30,000,000 元 ≠ 上年度期末保額 3,000,000 元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系統總數差額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理賠系統 死亡/失能理賠給付 2025-06：時間差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系統總數差額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理賠系統 死亡/失能理賠給付 2025-07：時間差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系統總數差額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理賠系統 死亡/失能理賠給付 2025-12：時間差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系統總數差額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理賠系統 死亡/失能理賠給付 2026-01：時間差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系統總數差額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建議確認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保單管理系統 期末有效件數/保額 2025：定義差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系統總數差額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R001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新契約系統 新契約件數/保額 2025-03：待查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連帶問題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C007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P250005901/A01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必須修改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E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客戶資料的保單 P250005901/A01 在承保檔中不存在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參考來源與補充說明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填報手冊與檢核規則：主辦單位提供之個人壽險（2025 填報年度）、個人癌症保險（2024 版）、新式傷害保險（2021 版）。工具內「檢查項目一覽」可逐條對應編號與手冊頁碼。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法規版本核實狀態：目前標示為「尚未核實」，正式使用前須由業務單位核對最新版本；一律以正式手冊與退件通知為準。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技術補充：採用 claude.ai 線上版（開啟者自己的帳號）；AI 只負責說明與整理，輸出的筆數、建議值一律由規則引擎重算驗證，AI 不判斷對錯、不修改資料。部署者另可改接公司自建 AI 平台（Dify）作為來源，屬部署設定、非使用者介面，未在正式環境實測。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安全技術補充：DOMPurify（XSS）、個資遮蔽（送 AI 前，fail-closed）、提示注入標籤隔離、法規更新 ECDSA P-256 主管簽章核可、Excel 壓縮炸彈預檢與原型污染防護。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2E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可重現：證據表與本頁數字由 tools/evidence.js、tools/evidence-pdf.js、tools/proposal-pptx.js 產生，資料與截圖皆為工具實跑結果。</a:t>
            </a:r>
            <a:endParaRPr lang="en-US" sz="1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  <a:latin typeface="Microsoft JhengHei"/>
                <a:ea typeface="Microsoft JhengHei"/>
                <a:cs typeface="Microsoft JhengHe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申報資料檢核助手｜企畫書</dc:title>
  <dc:subject>PptxGenJS Presentation</dc:subject>
  <dc:creator>PptxGenJS</dc:creator>
  <cp:lastModifiedBy>PptxGenJS</cp:lastModifiedBy>
  <cp:revision>1</cp:revision>
  <dcterms:created xsi:type="dcterms:W3CDTF">2026-10-28T08:01:20Z</dcterms:created>
  <dcterms:modified xsi:type="dcterms:W3CDTF">2026-10-28T08:01:20Z</dcterms:modified>
</cp:coreProperties>
</file>